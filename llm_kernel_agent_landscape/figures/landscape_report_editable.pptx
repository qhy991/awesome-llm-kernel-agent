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"/>
            <a:ext cx="1463040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600" b="1">
                <a:solidFill>
                  <a:srgbClr val="0B1F3A"/>
                </a:solidFill>
                <a:latin typeface="Microsoft YaHei"/>
              </a:rPr>
              <a:t>LLM-driven Kernel Engineering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21792"/>
            <a:ext cx="146304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Microsoft YaHei"/>
              </a:rPr>
              <a:t>Model capability · Agent workflow · Data · Evaluation ·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1261872"/>
            <a:ext cx="10058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Microsoft YaHei"/>
              </a:rPr>
              <a:t>Time / maturity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6640" y="2194560"/>
            <a:ext cx="12435840" cy="0"/>
          </a:xfrm>
          <a:prstGeom prst="line">
            <a:avLst/>
          </a:prstGeom>
          <a:ln w="8890">
            <a:solidFill>
              <a:srgbClr val="AAB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5072" y="2029967"/>
            <a:ext cx="715264" cy="329184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34155"/>
                </a:solidFill>
                <a:latin typeface="Microsoft YaHei"/>
              </a:rPr>
              <a:t>2026+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6640" y="3448594"/>
            <a:ext cx="12435840" cy="0"/>
          </a:xfrm>
          <a:prstGeom prst="line">
            <a:avLst/>
          </a:prstGeom>
          <a:ln w="8890">
            <a:solidFill>
              <a:srgbClr val="AAB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5072" y="3284002"/>
            <a:ext cx="715264" cy="329184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34155"/>
                </a:solidFill>
                <a:latin typeface="Microsoft YaHei"/>
              </a:rPr>
              <a:t>2025 H2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6640" y="4702628"/>
            <a:ext cx="12435840" cy="0"/>
          </a:xfrm>
          <a:prstGeom prst="line">
            <a:avLst/>
          </a:prstGeom>
          <a:ln w="8890">
            <a:solidFill>
              <a:srgbClr val="AAB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5072" y="4538036"/>
            <a:ext cx="715264" cy="329184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34155"/>
                </a:solidFill>
                <a:latin typeface="Microsoft YaHei"/>
              </a:rPr>
              <a:t>2025 H1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6640" y="5956662"/>
            <a:ext cx="12435840" cy="0"/>
          </a:xfrm>
          <a:prstGeom prst="line">
            <a:avLst/>
          </a:prstGeom>
          <a:ln w="8890">
            <a:solidFill>
              <a:srgbClr val="AAB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5072" y="5792070"/>
            <a:ext cx="715264" cy="329184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34155"/>
                </a:solidFill>
                <a:latin typeface="Microsoft YaHei"/>
              </a:rPr>
              <a:t>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7000" y="1058091"/>
            <a:ext cx="1920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76D2"/>
                </a:solidFill>
                <a:latin typeface="Microsoft YaHei"/>
              </a:rPr>
              <a:t>LLM4Kernel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7000" y="1426464"/>
            <a:ext cx="192024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550" b="1">
                <a:solidFill>
                  <a:srgbClr val="1976D2"/>
                </a:solidFill>
                <a:latin typeface="Microsoft YaHei"/>
              </a:rPr>
              <a:t>Model / Post-training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25600" y="1630244"/>
            <a:ext cx="0" cy="4679116"/>
          </a:xfrm>
          <a:prstGeom prst="line">
            <a:avLst/>
          </a:prstGeom>
          <a:ln w="1524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560576" y="2131858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60576" y="3385892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60576" y="4639926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60576" y="5893961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79240" y="1058091"/>
            <a:ext cx="1920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D84040"/>
                </a:solidFill>
                <a:latin typeface="Microsoft YaHei"/>
              </a:rPr>
              <a:t>Agent4Kernel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9240" y="1426464"/>
            <a:ext cx="192024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550" b="1">
                <a:solidFill>
                  <a:srgbClr val="D84040"/>
                </a:solidFill>
                <a:latin typeface="Microsoft YaHei"/>
              </a:rPr>
              <a:t>Agentic Workflow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07840" y="1630244"/>
            <a:ext cx="0" cy="4679116"/>
          </a:xfrm>
          <a:prstGeom prst="line">
            <a:avLst/>
          </a:prstGeom>
          <a:ln w="15240">
            <a:solidFill>
              <a:srgbClr val="D8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42816" y="2131858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42816" y="3385892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42816" y="4639926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42816" y="5893961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61480" y="1058091"/>
            <a:ext cx="1920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A623"/>
                </a:solidFill>
                <a:latin typeface="Microsoft YaHei"/>
              </a:rPr>
              <a:t>Datasets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480" y="1426464"/>
            <a:ext cx="192024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550" b="1">
                <a:solidFill>
                  <a:srgbClr val="F5A623"/>
                </a:solidFill>
                <a:latin typeface="Microsoft YaHei"/>
              </a:rPr>
              <a:t>Data Assets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90080" y="1630244"/>
            <a:ext cx="0" cy="4679116"/>
          </a:xfrm>
          <a:prstGeom prst="line">
            <a:avLst/>
          </a:prstGeom>
          <a:ln w="1524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925056" y="2131858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25056" y="3385892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25056" y="4639926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25056" y="5893961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43720" y="1058091"/>
            <a:ext cx="1920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A1B9A"/>
                </a:solidFill>
                <a:latin typeface="Microsoft YaHei"/>
              </a:rPr>
              <a:t>Benchmarks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3720" y="1426464"/>
            <a:ext cx="192024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550" b="1">
                <a:solidFill>
                  <a:srgbClr val="6A1B9A"/>
                </a:solidFill>
                <a:latin typeface="Microsoft YaHei"/>
              </a:rPr>
              <a:t>Evaluation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72320" y="1630244"/>
            <a:ext cx="0" cy="4679116"/>
          </a:xfrm>
          <a:prstGeom prst="line">
            <a:avLst/>
          </a:prstGeom>
          <a:ln w="1524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607296" y="2131858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07296" y="3385892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07296" y="4639926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607296" y="5893961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2125960" y="1058091"/>
            <a:ext cx="1920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8B8B"/>
                </a:solidFill>
                <a:latin typeface="Microsoft YaHei"/>
              </a:rPr>
              <a:t>Systems / Platforms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25960" y="1426464"/>
            <a:ext cx="192024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550" b="1">
                <a:solidFill>
                  <a:srgbClr val="008B8B"/>
                </a:solidFill>
                <a:latin typeface="Microsoft YaHei"/>
              </a:rPr>
              <a:t>Integrated Systems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2354560" y="1630244"/>
            <a:ext cx="0" cy="4679116"/>
          </a:xfrm>
          <a:prstGeom prst="line">
            <a:avLst/>
          </a:prstGeom>
          <a:ln w="1524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2289536" y="2131858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2289536" y="3385892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2289536" y="4639926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2289536" y="5893961"/>
            <a:ext cx="130048" cy="125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804416" y="5917474"/>
            <a:ext cx="1463040" cy="501613"/>
          </a:xfrm>
          <a:prstGeom prst="roundRect">
            <a:avLst/>
          </a:prstGeom>
          <a:solidFill>
            <a:srgbClr val="EAF3FF"/>
          </a:solidFill>
          <a:ln w="1397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976D2"/>
                </a:solidFill>
                <a:latin typeface="Microsoft YaHei"/>
              </a:rPr>
              <a:t>AutoTriton
Tsinghua · OpenBMB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04416" y="5494237"/>
            <a:ext cx="1463040" cy="501613"/>
          </a:xfrm>
          <a:prstGeom prst="roundRect">
            <a:avLst/>
          </a:prstGeom>
          <a:solidFill>
            <a:srgbClr val="EAF3FF"/>
          </a:solidFill>
          <a:ln w="1397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976D2"/>
                </a:solidFill>
                <a:latin typeface="Microsoft YaHei"/>
              </a:rPr>
              <a:t>QiMeng-Kernel
CAS · ICT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04416" y="4240203"/>
            <a:ext cx="1463040" cy="501613"/>
          </a:xfrm>
          <a:prstGeom prst="roundRect">
            <a:avLst/>
          </a:prstGeom>
          <a:solidFill>
            <a:srgbClr val="EAF3FF"/>
          </a:solidFill>
          <a:ln w="1397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976D2"/>
                </a:solidFill>
                <a:latin typeface="Microsoft YaHei"/>
              </a:rPr>
              <a:t>CUDA-L2
DeepReinforce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804416" y="4663440"/>
            <a:ext cx="1463040" cy="501613"/>
          </a:xfrm>
          <a:prstGeom prst="roundRect">
            <a:avLst/>
          </a:prstGeom>
          <a:solidFill>
            <a:srgbClr val="EAF3FF"/>
          </a:solidFill>
          <a:ln w="1397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976D2"/>
                </a:solidFill>
                <a:latin typeface="Microsoft YaHei"/>
              </a:rPr>
              <a:t>TritonRL
CMU · AWS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04416" y="1520516"/>
            <a:ext cx="1463040" cy="501613"/>
          </a:xfrm>
          <a:prstGeom prst="roundRect">
            <a:avLst/>
          </a:prstGeom>
          <a:solidFill>
            <a:srgbClr val="EAF3FF"/>
          </a:solidFill>
          <a:ln w="1397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976D2"/>
                </a:solidFill>
                <a:latin typeface="Microsoft YaHei"/>
              </a:rPr>
              <a:t>CUDA Agent
ByteDance · Tsinghua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04416" y="1943753"/>
            <a:ext cx="1463040" cy="501613"/>
          </a:xfrm>
          <a:prstGeom prst="roundRect">
            <a:avLst/>
          </a:prstGeom>
          <a:solidFill>
            <a:srgbClr val="EAF3FF"/>
          </a:solidFill>
          <a:ln w="1397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976D2"/>
                </a:solidFill>
                <a:latin typeface="Microsoft YaHei"/>
              </a:rPr>
              <a:t>Dr. Kernel
HKUST · TikTok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04416" y="2366989"/>
            <a:ext cx="1463040" cy="501613"/>
          </a:xfrm>
          <a:prstGeom prst="roundRect">
            <a:avLst/>
          </a:prstGeom>
          <a:solidFill>
            <a:srgbClr val="EAF3FF"/>
          </a:solidFill>
          <a:ln w="1397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976D2"/>
                </a:solidFill>
                <a:latin typeface="Microsoft YaHei"/>
              </a:rPr>
              <a:t>KernelLLM
Meta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86656" y="5705856"/>
            <a:ext cx="1463040" cy="501613"/>
          </a:xfrm>
          <a:prstGeom prst="roundRect">
            <a:avLst/>
          </a:prstGeom>
          <a:solidFill>
            <a:srgbClr val="FFF0F0"/>
          </a:solidFill>
          <a:ln w="13970">
            <a:solidFill>
              <a:srgbClr val="D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4040"/>
                </a:solidFill>
                <a:latin typeface="Microsoft YaHei"/>
              </a:rPr>
              <a:t>CUDA-LLM
SJTU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6656" y="4240203"/>
            <a:ext cx="1463040" cy="501613"/>
          </a:xfrm>
          <a:prstGeom prst="roundRect">
            <a:avLst/>
          </a:prstGeom>
          <a:solidFill>
            <a:srgbClr val="FFF0F0"/>
          </a:solidFill>
          <a:ln w="13970">
            <a:solidFill>
              <a:srgbClr val="D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4040"/>
                </a:solidFill>
                <a:latin typeface="Microsoft YaHei"/>
              </a:rPr>
              <a:t>AI CUDA Engineer
Sakana AI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86656" y="4663440"/>
            <a:ext cx="1463040" cy="501613"/>
          </a:xfrm>
          <a:prstGeom prst="roundRect">
            <a:avLst/>
          </a:prstGeom>
          <a:solidFill>
            <a:srgbClr val="FFF0F0"/>
          </a:solidFill>
          <a:ln w="13970">
            <a:solidFill>
              <a:srgbClr val="D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4040"/>
                </a:solidFill>
                <a:latin typeface="Microsoft YaHei"/>
              </a:rPr>
              <a:t>Astra
Stanford · SJTU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86656" y="3197787"/>
            <a:ext cx="1463040" cy="501613"/>
          </a:xfrm>
          <a:prstGeom prst="roundRect">
            <a:avLst/>
          </a:prstGeom>
          <a:solidFill>
            <a:srgbClr val="FFF0F0"/>
          </a:solidFill>
          <a:ln w="13970">
            <a:solidFill>
              <a:srgbClr val="D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4040"/>
                </a:solidFill>
                <a:latin typeface="Microsoft YaHei"/>
              </a:rPr>
              <a:t>CudaForge
U Minnesota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86656" y="2774550"/>
            <a:ext cx="1463040" cy="501613"/>
          </a:xfrm>
          <a:prstGeom prst="roundRect">
            <a:avLst/>
          </a:prstGeom>
          <a:solidFill>
            <a:srgbClr val="FFF0F0"/>
          </a:solidFill>
          <a:ln w="13970">
            <a:solidFill>
              <a:srgbClr val="D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4040"/>
                </a:solidFill>
                <a:latin typeface="Microsoft YaHei"/>
              </a:rPr>
              <a:t>STARK
Meta · Duke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86656" y="3621024"/>
            <a:ext cx="1463040" cy="501613"/>
          </a:xfrm>
          <a:prstGeom prst="roundRect">
            <a:avLst/>
          </a:prstGeom>
          <a:solidFill>
            <a:srgbClr val="FFF0F0"/>
          </a:solidFill>
          <a:ln w="13970">
            <a:solidFill>
              <a:srgbClr val="D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4040"/>
                </a:solidFill>
                <a:latin typeface="Microsoft YaHei"/>
              </a:rPr>
              <a:t>EvoEngineer
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86656" y="1943753"/>
            <a:ext cx="1463040" cy="501613"/>
          </a:xfrm>
          <a:prstGeom prst="roundRect">
            <a:avLst/>
          </a:prstGeom>
          <a:solidFill>
            <a:srgbClr val="FFF0F0"/>
          </a:solidFill>
          <a:ln w="13970">
            <a:solidFill>
              <a:srgbClr val="D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4040"/>
                </a:solidFill>
                <a:latin typeface="Microsoft YaHei"/>
              </a:rPr>
              <a:t>K-Search
UC Berkeley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168896" y="5917474"/>
            <a:ext cx="1463040" cy="501613"/>
          </a:xfrm>
          <a:prstGeom prst="roundRect">
            <a:avLst/>
          </a:prstGeom>
          <a:solidFill>
            <a:srgbClr val="FFF7E7"/>
          </a:solidFill>
          <a:ln w="1397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5A623"/>
                </a:solidFill>
                <a:latin typeface="Microsoft YaHei"/>
              </a:rPr>
              <a:t>Stack v2 HPC
BigCode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68896" y="5494237"/>
            <a:ext cx="1463040" cy="501613"/>
          </a:xfrm>
          <a:prstGeom prst="roundRect">
            <a:avLst/>
          </a:prstGeom>
          <a:solidFill>
            <a:srgbClr val="FFF7E7"/>
          </a:solidFill>
          <a:ln w="1397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5A623"/>
                </a:solidFill>
                <a:latin typeface="Microsoft YaHei"/>
              </a:rPr>
              <a:t>FlagGems
FlagOS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68896" y="4240203"/>
            <a:ext cx="1463040" cy="501613"/>
          </a:xfrm>
          <a:prstGeom prst="roundRect">
            <a:avLst/>
          </a:prstGeom>
          <a:solidFill>
            <a:srgbClr val="FFF7E7"/>
          </a:solidFill>
          <a:ln w="1397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5A623"/>
                </a:solidFill>
                <a:latin typeface="Microsoft YaHei"/>
              </a:rPr>
              <a:t>FlashInfer
UW · CMU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68896" y="4663440"/>
            <a:ext cx="1463040" cy="501613"/>
          </a:xfrm>
          <a:prstGeom prst="roundRect">
            <a:avLst/>
          </a:prstGeom>
          <a:solidFill>
            <a:srgbClr val="FFF7E7"/>
          </a:solidFill>
          <a:ln w="1397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5A623"/>
                </a:solidFill>
                <a:latin typeface="Microsoft YaHei"/>
              </a:rPr>
              <a:t>KernelBook
GPUMODE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168896" y="1943753"/>
            <a:ext cx="1463040" cy="501613"/>
          </a:xfrm>
          <a:prstGeom prst="roundRect">
            <a:avLst/>
          </a:prstGeom>
          <a:solidFill>
            <a:srgbClr val="FFF7E7"/>
          </a:solidFill>
          <a:ln w="1397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5A623"/>
                </a:solidFill>
                <a:latin typeface="Microsoft YaHei"/>
              </a:rPr>
              <a:t>Liger-Kernel
LinkedIn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851136" y="4028585"/>
            <a:ext cx="1463040" cy="501613"/>
          </a:xfrm>
          <a:prstGeom prst="roundRect">
            <a:avLst/>
          </a:prstGeom>
          <a:solidFill>
            <a:srgbClr val="F4ECFF"/>
          </a:solidFill>
          <a:ln w="1397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A1B9A"/>
                </a:solidFill>
                <a:latin typeface="Microsoft YaHei"/>
              </a:rPr>
              <a:t>KernelBench
Stanford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851136" y="4451821"/>
            <a:ext cx="1463040" cy="501613"/>
          </a:xfrm>
          <a:prstGeom prst="roundRect">
            <a:avLst/>
          </a:prstGeom>
          <a:solidFill>
            <a:srgbClr val="F4ECFF"/>
          </a:solidFill>
          <a:ln w="1397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A1B9A"/>
                </a:solidFill>
                <a:latin typeface="Microsoft YaHei"/>
              </a:rPr>
              <a:t>TritonBench
THU NLP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51136" y="2986169"/>
            <a:ext cx="1463040" cy="501613"/>
          </a:xfrm>
          <a:prstGeom prst="roundRect">
            <a:avLst/>
          </a:prstGeom>
          <a:solidFill>
            <a:srgbClr val="F4ECFF"/>
          </a:solidFill>
          <a:ln w="1397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A1B9A"/>
                </a:solidFill>
                <a:latin typeface="Microsoft YaHei"/>
              </a:rPr>
              <a:t>MultiKernelBench
—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851136" y="3409405"/>
            <a:ext cx="1463040" cy="501613"/>
          </a:xfrm>
          <a:prstGeom prst="roundRect">
            <a:avLst/>
          </a:prstGeom>
          <a:solidFill>
            <a:srgbClr val="F4ECFF"/>
          </a:solidFill>
          <a:ln w="1397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A1B9A"/>
                </a:solidFill>
                <a:latin typeface="Microsoft YaHei"/>
              </a:rPr>
              <a:t>BackendBench
—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851136" y="4875058"/>
            <a:ext cx="1463040" cy="501613"/>
          </a:xfrm>
          <a:prstGeom prst="roundRect">
            <a:avLst/>
          </a:prstGeom>
          <a:solidFill>
            <a:srgbClr val="F4ECFF"/>
          </a:solidFill>
          <a:ln w="1397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A1B9A"/>
                </a:solidFill>
                <a:latin typeface="Microsoft YaHei"/>
              </a:rPr>
              <a:t>ComputeEval
NVIDIA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51136" y="1308898"/>
            <a:ext cx="1463040" cy="501613"/>
          </a:xfrm>
          <a:prstGeom prst="roundRect">
            <a:avLst/>
          </a:prstGeom>
          <a:solidFill>
            <a:srgbClr val="F4ECFF"/>
          </a:solidFill>
          <a:ln w="1397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A1B9A"/>
                </a:solidFill>
                <a:latin typeface="Microsoft YaHei"/>
              </a:rPr>
              <a:t>CUDABench
SJTU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51136" y="2155371"/>
            <a:ext cx="1463040" cy="501613"/>
          </a:xfrm>
          <a:prstGeom prst="roundRect">
            <a:avLst/>
          </a:prstGeom>
          <a:solidFill>
            <a:srgbClr val="F4ECFF"/>
          </a:solidFill>
          <a:ln w="1397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A1B9A"/>
                </a:solidFill>
                <a:latin typeface="Microsoft YaHei"/>
              </a:rPr>
              <a:t>FlashInfer-Bench
UW · CMU · NVIDIA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2533376" y="5705856"/>
            <a:ext cx="1463040" cy="501613"/>
          </a:xfrm>
          <a:prstGeom prst="roundRect">
            <a:avLst/>
          </a:prstGeom>
          <a:solidFill>
            <a:srgbClr val="EAFBFA"/>
          </a:solidFill>
          <a:ln w="1397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08B8B"/>
                </a:solidFill>
                <a:latin typeface="Microsoft YaHei"/>
              </a:rPr>
              <a:t>AutoKernel
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2533376" y="4451821"/>
            <a:ext cx="1463040" cy="501613"/>
          </a:xfrm>
          <a:prstGeom prst="roundRect">
            <a:avLst/>
          </a:prstGeom>
          <a:solidFill>
            <a:srgbClr val="EAFBFA"/>
          </a:solidFill>
          <a:ln w="1397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08B8B"/>
                </a:solidFill>
                <a:latin typeface="Microsoft YaHei"/>
              </a:rPr>
              <a:t>KForge
Stanford · Gimlet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2533376" y="3409405"/>
            <a:ext cx="1463040" cy="501613"/>
          </a:xfrm>
          <a:prstGeom prst="roundRect">
            <a:avLst/>
          </a:prstGeom>
          <a:solidFill>
            <a:srgbClr val="EAFBFA"/>
          </a:solidFill>
          <a:ln w="1397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08B8B"/>
                </a:solidFill>
                <a:latin typeface="Microsoft YaHei"/>
              </a:rPr>
              <a:t>KernelEvolve
—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2533376" y="2986169"/>
            <a:ext cx="1463040" cy="501613"/>
          </a:xfrm>
          <a:prstGeom prst="roundRect">
            <a:avLst/>
          </a:prstGeom>
          <a:solidFill>
            <a:srgbClr val="EAFBFA"/>
          </a:solidFill>
          <a:ln w="1397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08B8B"/>
                </a:solidFill>
                <a:latin typeface="Microsoft YaHei"/>
              </a:rPr>
              <a:t>KernelFalcon
Meta PyTorch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851136" y="1732134"/>
            <a:ext cx="1463040" cy="501613"/>
          </a:xfrm>
          <a:prstGeom prst="roundRect">
            <a:avLst/>
          </a:prstGeom>
          <a:solidFill>
            <a:srgbClr val="F4ECFF"/>
          </a:solidFill>
          <a:ln w="1397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A1B9A"/>
                </a:solidFill>
                <a:latin typeface="Microsoft YaHei"/>
              </a:rPr>
              <a:t>FastKernels
Snowflake · CMU · UCSD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851136" y="2578608"/>
            <a:ext cx="1463040" cy="501613"/>
          </a:xfrm>
          <a:prstGeom prst="roundRect">
            <a:avLst/>
          </a:prstGeom>
          <a:solidFill>
            <a:srgbClr val="F4ECFF"/>
          </a:solidFill>
          <a:ln w="1397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A1B9A"/>
                </a:solidFill>
                <a:latin typeface="Microsoft YaHei"/>
              </a:rPr>
              <a:t>KernelBenchX
Tsinghua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2533376" y="1943753"/>
            <a:ext cx="1463040" cy="501613"/>
          </a:xfrm>
          <a:prstGeom prst="roundRect">
            <a:avLst/>
          </a:prstGeom>
          <a:solidFill>
            <a:srgbClr val="EAFBFA"/>
          </a:solidFill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08B8B"/>
                </a:solidFill>
                <a:latin typeface="Microsoft YaHei"/>
              </a:rPr>
              <a:t>KernelOwl
Self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866880" y="6662057"/>
            <a:ext cx="2032000" cy="8621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110720" y="6818811"/>
            <a:ext cx="1544320" cy="62701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Microsoft YaHei"/>
              </a:rPr>
              <a:t>Column = research area
Line = time band
Gold border = highlight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